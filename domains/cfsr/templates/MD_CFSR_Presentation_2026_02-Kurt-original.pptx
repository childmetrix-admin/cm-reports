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thumbnail" Target="docProps/thumbnail.jpeg"/>
<Relationship Id="rId2" Type="http://schemas.openxmlformats.org/officeDocument/2006/relationships/officeDocument" Target="ppt/presentation.xml"/>
<Relationship Id="rId1" Type="http://schemas.microsoft.com/office/2011/relationships/webextensiontaskpanes" Target="ppt/webextensions/taskpanes.xml"/>
<Relationship Id="rId5" Type="http://schemas.openxmlformats.org/officeDocument/2006/relationships/extended-properties" Target="docProps/app.xml"/>
<Relationship Id="rId4" Type="http://schemas.openxmlformats.org/package/2006/relationships/metadata/core-properties" Target="docProps/core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slide" Target="slides/slide2.xml"/>
<Relationship Id="rId8" Type="http://schemas.openxmlformats.org/officeDocument/2006/relationships/slide" Target="slides/slide3.xml"/>
<Relationship Id="rId9" Type="http://schemas.openxmlformats.org/officeDocument/2006/relationships/slide" Target="slides/slide4.xml"/>
<Relationship Id="rId10" Type="http://schemas.openxmlformats.org/officeDocument/2006/relationships/slide" Target="slides/slide5.xml"/>
<Relationship Id="rId11" Type="http://schemas.openxmlformats.org/officeDocument/2006/relationships/slide" Target="slides/slide6.xml"/>
<Relationship Id="rId12" Type="http://schemas.openxmlformats.org/officeDocument/2006/relationships/slide" Target="slides/slide7.xml"/>
<Relationship Id="rId13" Type="http://schemas.openxmlformats.org/officeDocument/2006/relationships/slide" Target="slides/slide8.xml"/>
<Relationship Id="rId14" Type="http://schemas.openxmlformats.org/officeDocument/2006/relationships/slide" Target="slides/slide9.xml"/>
<Relationship Id="rId15" Type="http://schemas.openxmlformats.org/officeDocument/2006/relationships/slide" Target="slides/slide10.xml"/>
<Relationship Id="rId16" Type="http://schemas.openxmlformats.org/officeDocument/2006/relationships/slide" Target="slides/slide11.xml"/>
<Relationship Id="rId17" Type="http://schemas.openxmlformats.org/officeDocument/2006/relationships/slide" Target="slides/slide12.xml"/>
<Relationship Id="rId18" Type="http://schemas.openxmlformats.org/officeDocument/2006/relationships/slide" Target="slides/slide13.xml"/>
<Relationship Id="rId19" Type="http://schemas.openxmlformats.org/officeDocument/2006/relationships/slide" Target="slides/slide14.xml"/>
<Relationship Id="rId20" Type="http://schemas.openxmlformats.org/officeDocument/2006/relationships/slide" Target="slides/slide1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02D-7834-09AE-FA6F-9624A30BE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DC0B-10A6-5E75-162A-631857EF8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953E-89AF-4819-1938-FF52D0BA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F29B-D43C-5A5B-6E0B-ED9A6D2C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FFED-642F-DB92-DCD4-F456116A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9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09F5-B437-05DD-6977-AF1DC9BC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B4E3-152E-063F-ABF3-176A0BB0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3E23-83C7-0D9A-A2B4-C3859CC8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D64C-EBF5-4BDC-C498-98474B5C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25701-933D-B87E-EBFF-D8004ED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185E-355E-77E2-B1D8-D63F3DCF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19C6-2F8A-CB87-D7DA-4ED195141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AC52-F7F8-7018-12A9-AA1303F6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2B91-DC30-C9F4-F0C6-3FB87C57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0AA-6459-E62A-448E-763418CA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C642-3D60-302E-A662-BBC9B28F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E26D-930C-6D6A-C0CF-16CFD85C0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1D49A-C64D-4FD5-B994-48DD2260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4F4-E841-1D9D-26B0-3FF1E440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45427-AD00-05CD-03F8-12602E2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FD10A-78FF-D8D2-CFA7-B1743DFA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9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4B5F-92F8-178B-A927-E8728C9D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D377-31A6-4F6A-0503-6FC97E3F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A1C2E-49D0-310E-C909-275F7437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0EE38-022C-6980-7AE5-1E529D27C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6D4EB-D736-8F4F-840C-5F5AC877A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46CEC-C9B5-4A70-FCA1-78FA407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B9038-C6A6-0424-0057-16167FDE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521EB-5F60-35C8-F38C-8922D4E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AF14-C5BA-A0BD-2BCC-5C0355A8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6F26E-2B3E-E1B2-E204-FB57C0C8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1FB6E-B085-44EA-74FE-BA186848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41FE2-BD68-23E1-8E69-8B1B1910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7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0A915-5F3E-0F37-C026-AFEA703F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8D61F-3F02-41CB-9FE6-D76719EB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4E02-ACCF-A03E-B4BE-D93F99A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Panel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Panel"/>
          <p:cNvSpPr/>
          <p:nvPr userDrawn="1"/>
        </p:nvSpPr>
        <p:spPr>
          <a:xfrm>
            <a:off x="0" y="0"/>
            <a:ext cx="3857297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5" name="Divider Line"/>
          <p:cNvCxnSpPr/>
          <p:nvPr userDrawn="1"/>
        </p:nvCxnSpPr>
        <p:spPr>
          <a:xfrm>
            <a:off x="0" y="2469931"/>
            <a:ext cx="3857296" cy="0"/>
          </a:xfrm>
          <a:prstGeom prst="line">
            <a:avLst/>
          </a:prstGeom>
          <a:ln w="6350">
            <a:solidFill>
              <a:schemeClr val="tx2">
                <a:lumMod val="25000"/>
                <a:lumOff val="75000"/>
              </a:schemeClr>
            </a:solidFill>
          </a:ln>
        </p:spPr>
      </p:cxnSp>
      <p:pic>
        <p:nvPicPr>
          <p:cNvPr id="16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5798" y="6384036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 wrap="square">
            <a:spAutoFit/>
          </a:bodyPr>
          <a:lstStyle>
            <a:lvl1pPr marL="285750" indent="-285750">
              <a:buFont typeface="Arial"/>
              <a:buChar char="•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</p:sp>
      <p:sp>
        <p:nvSpPr>
          <p:cNvPr id="17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1190625"/>
            <a:ext cx="3225675" cy="64008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874520"/>
            <a:ext cx="3225675" cy="594360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0BB2-026E-1363-2CC1-11254389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711B-3280-AD97-E832-B29AE72C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57AB-56AF-639E-0A77-E1BBC0C5F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3D61-279B-369F-6558-EE28C85A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9E28-8342-D25F-89AC-0E3D11AA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3A4CB-56D2-E5E0-64A2-A73F93E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nn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Rectangle"/>
          <p:cNvSpPr/>
          <p:nvPr userDrawn="1"/>
        </p:nvSpPr>
        <p:spPr>
          <a:xfrm>
            <a:off x="0" y="0"/>
            <a:ext cx="12192000" cy="16131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8826" y="284672"/>
            <a:ext cx="1199069" cy="2578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 vert="horz" lIns="91440" tIns="45720" rIns="91440" bIns="45720"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ubtitle"/>
          <p:cNvSpPr>
            <a:spLocks noGrp="1"/>
          </p:cNvSpPr>
          <p:nvPr>
            <p:ph type="body" sz="quarter" idx="11"/>
          </p:nvPr>
        </p:nvSpPr>
        <p:spPr>
          <a:xfrm>
            <a:off x="354105" y="810768"/>
            <a:ext cx="3225675" cy="38404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etail"/>
          <p:cNvSpPr>
            <a:spLocks noGrp="1"/>
          </p:cNvSpPr>
          <p:nvPr>
            <p:ph type="body" sz="quarter" idx="12"/>
          </p:nvPr>
        </p:nvSpPr>
        <p:spPr>
          <a:xfrm>
            <a:off x="354105" y="1234440"/>
            <a:ext cx="3225675" cy="338328"/>
          </a:xfrm>
        </p:spPr>
        <p:txBody>
          <a:bodyPr vert="horz" lIns="91440" tIns="0" rIns="9144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D0DCE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71D3-B9EE-110E-6FB5-E8A0A193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DA8C6-802C-CABA-F7D5-3BE013507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AD30-C5DD-38F5-48A0-5286DA6BC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5737-0253-6157-C1B2-7230C7EA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07422-4D4B-23EF-D757-7E311B22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98F76-1EF5-7800-26FE-DF55ED52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99D4A-DCAF-0984-E164-F86382E7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8955-6509-505A-955D-F3F95B2C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DE31-D691-AF2E-9B8F-D5430E8FF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A1D2B-2537-4D61-9387-23A02DC35F4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7A74-AF5F-AC26-E714-9AB872BA4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4C43-7267-8A54-BF86-BF770949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C2334-BDD3-4B5A-BFA7-22F489CFAFEA}" type="slidenum">
              <a:rPr lang="en-US" smtClean="0"/>
              <a:t>‹#›</a:t>
            </a:fld>
            <a:endParaRPr lang="en-US"/>
          </a:p>
        </p:txBody>
      </p:sp>
      <p:grpSp>
        <p:nvGrpSpPr>
          <p:cNvPr id="100" name="Footer Group"/>
          <p:cNvGrpSpPr/>
          <p:nvPr/>
        </p:nvGrpSpPr>
        <p:grpSpPr>
          <a:xfrm>
            <a:off x="0" y="5713687"/>
            <a:ext cx="12192000" cy="1154824"/>
            <a:chOff x="0" y="5713687"/>
            <a:chExt cx="12192000" cy="1154824"/>
          </a:xfrm>
        </p:grpSpPr>
        <p:pic>
          <p:nvPicPr>
            <p:cNvPr id="101" name="Wave Footer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713687"/>
              <a:ext cx="12192000" cy="1154824"/>
            </a:xfrm>
            <a:prstGeom prst="rect">
              <a:avLst/>
            </a:prstGeom>
          </p:spPr>
        </p:pic>
        <p:pic>
          <p:nvPicPr>
            <p:cNvPr id="102" name="Logo Footer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8191" y="6002185"/>
              <a:ext cx="1665893" cy="3581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71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95" r:id="rId8"/>
    <p:sldLayoutId id="2147483688" r:id="rId9"/>
    <p:sldLayoutId id="2147483696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/>
              <a:t>Maryland CFSR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/>
              <a:t>Data Profile Period: 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/>
              <a:t>CFSR Round 4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062"/>
          </a:xfrm>
        </p:spPr>
        <p:txBody>
          <a:bodyPr/>
          <a:lstStyle/>
          <a:p>
            <a:pPr/>
            <a:r>
              <a:rPr/>
              <a:t>Children's Bureau provides CFSR Round 4 Data Profiles every 6 months</a:t>
            </a:r>
          </a:p>
          <a:p>
            <a:pPr/>
            <a:r>
              <a:rPr/>
              <a:t>Shows your state's risk-standardized performance (RSP) and observed performance</a:t>
            </a:r>
          </a:p>
          <a:p>
            <a:pPr/>
            <a:r>
              <a:rPr/>
              <a:t>RSP is observed performance but with risk-adjustment</a:t>
            </a:r>
          </a:p>
          <a:p>
            <a:pPr/>
            <a:r>
              <a:rPr/>
              <a:t>RSP is compared to the national performance to see if performance is statistically better, worse, or no different than national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CFSR Performance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480060"/>
          </a:xfrm>
        </p:spPr>
        <p:txBody>
          <a:bodyPr/>
          <a:lstStyle/>
          <a:p>
            <a:r>
              <a:rPr/>
              <a:t>Overall Performance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0688" y="1759268"/>
            <a:ext cx="11783400" cy="4916133"/>
          </a:xfrm>
        </p:spPr>
        <p:txBody>
          <a:bodyPr/>
          <a:lstStyle/>
          <a:p>
            <a:r>
              <a:rPr/>
              <a:t>[INSERT SCREENSHOT: Summary App]
URL: http://localhost:3840/?state=md&amp;profile=2026_02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Risk-Standardized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RSP KPI Cards]
URL: http://localhost:3840/rsp?state=md&amp;profile=2026_02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Observed Performance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Observed KPI Cards]
URL: http://localhost:3840/observed?state=md&amp;profile=2026_02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/>
              <a:t>Individual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in foster care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in care (victimizations / 100,000 days in care) - By State chart]
URL: http://localhost:3840/measures?indicator=Maltreatment%20in%20care%20%28victimizations%20%2F%20100%2C000%20days%20in%20care%29&amp;state=md&amp;profile=2026_02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45 of 51 reporting states</a:t>
            </a:r>
          </a:p>
          <a:p>
            <a:pPr/>
            <a:r>
              <a:rPr/>
              <a:t>Performance: 10.04 per 100,000</a:t>
            </a:r>
          </a:p>
          <a:p>
            <a:pPr/>
            <a:r>
              <a:rPr/>
              <a:t>0.97 above national standard of 9.07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2 events among 19,913 children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Maltreatment recurrence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Maltreatment recurrence within 12 months - By State chart]
URL: http://localhost:3840/measures?indicator=Maltreatment%20recurrence%20within%2012%20months&amp;state=md&amp;profile=2026_02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28 of 50 reporting states</a:t>
            </a:r>
          </a:p>
          <a:p>
            <a:pPr/>
            <a:r>
              <a:rPr/>
              <a:t>Performance: 19.8%</a:t>
            </a:r>
          </a:p>
          <a:p>
            <a:pPr/>
            <a:r>
              <a:rPr/>
              <a:t>10.1% above national standard of 9.7%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19 events among 96 children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Foster care entry rate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Foster care entry rate (entries / 1,000 children) - By State chart]
URL: http://localhost:3840/measures?indicator=Foster%20care%20entry%20rate%20%28entries%20%2F%201%2C000%20children%29&amp;state=md&amp;profile=2026_02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 of 52 reporting states</a:t>
            </a:r>
          </a:p>
          <a:p>
            <a:pPr/>
            <a:r>
              <a:rPr/>
              <a:t>Performance: 3.57 per 1,000</a:t>
            </a:r>
          </a:p>
          <a:p>
            <a:pPr/>
            <a:r>
              <a:rPr/>
              <a:t>Based on 43 events among 12,052 children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(entries)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entering care - By State chart]
URL: http://localhost:3840/measures?indicator=Permanency%20in%2012%20months%20for%20children%20entering%20care&amp;state=md&amp;profile=2026_02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42 of 49 reporting states</a:t>
            </a:r>
          </a:p>
          <a:p>
            <a:pPr/>
            <a:r>
              <a:rPr/>
              <a:t>Performance: 34.5%</a:t>
            </a:r>
          </a:p>
          <a:p>
            <a:pPr/>
            <a:r>
              <a:rPr/>
              <a:t>0.7% below national standard of 35.2%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10 events among 29 children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(12-23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12-23 months - By State chart]
URL: http://localhost:3840/measures?indicator=Permanency%20in%2012%20months%20for%20children%20in%20care%2012-23%20months&amp;state=md&amp;profile=2026_02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44 of 49 reporting states</a:t>
            </a:r>
          </a:p>
          <a:p>
            <a:pPr/>
            <a:r>
              <a:rPr/>
              <a:t>Performance: 64.3%</a:t>
            </a:r>
          </a:p>
          <a:p>
            <a:pPr/>
            <a:r>
              <a:rPr/>
              <a:t>20.5% above national standard of 43.8%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18 events among 28 children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Perm in 12 months (24 months or more)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Permanency in 12 months for children in care 24 months or more - By State chart]
URL: http://localhost:3840/measures?indicator=Permanency%20in%2012%20months%20for%20children%20in%20care%2024%20months%20or%20more&amp;state=md&amp;profile=2026_02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36 of 49 reporting states</a:t>
            </a:r>
          </a:p>
          <a:p>
            <a:pPr/>
            <a:r>
              <a:rPr/>
              <a:t>Performance: 16.7%</a:t>
            </a:r>
          </a:p>
          <a:p>
            <a:pPr/>
            <a:r>
              <a:rPr/>
              <a:t>20.6% below national standard of 37.3%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1 events among 6 children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Reentry to foster care within 12 months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Reentry to foster care within 12 months - By State chart]
URL: http://localhost:3840/measures?indicator=Reentry%20to%20foster%20care%20within%2012%20months&amp;state=md&amp;profile=2026_02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13 of 44 reporting states</a:t>
            </a:r>
          </a:p>
          <a:p>
            <a:pPr/>
            <a:r>
              <a:rPr/>
              <a:t>Performance: 20%</a:t>
            </a:r>
          </a:p>
          <a:p>
            <a:pPr/>
            <a:r>
              <a:rPr/>
              <a:t>14.4% above national standard of 5.6%</a:t>
            </a:r>
          </a:p>
          <a:p>
            <a:pPr/>
            <a:r>
              <a:rPr/>
              <a:t>Performance below national standard</a:t>
            </a:r>
          </a:p>
          <a:p>
            <a:pPr/>
            <a:r>
              <a:rPr/>
              <a:t>Based on 4 events among 20 children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284672"/>
            <a:ext cx="3225675" cy="857250"/>
          </a:xfrm>
        </p:spPr>
        <p:txBody>
          <a:bodyPr/>
          <a:lstStyle/>
          <a:p>
            <a:r>
              <a:rPr/>
              <a:t>Placement stability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46475" y="215657"/>
            <a:ext cx="7924800" cy="6449543"/>
          </a:xfrm>
        </p:spPr>
        <p:txBody>
          <a:bodyPr/>
          <a:lstStyle/>
          <a:p>
            <a:r>
              <a:rPr/>
              <a:t>[INSERT SCREENSHOT: Placement stability (moves / 1,000 days in care) - By State chart]
URL: http://localhost:3840/measures?indicator=Placement%20stability%20%28moves%20%2F%201%2C000%20days%20in%20care%29&amp;state=md&amp;profile=2026_02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42058" y="2915728"/>
            <a:ext cx="3306731" cy="3200000"/>
          </a:xfrm>
        </p:spPr>
        <p:txBody>
          <a:bodyPr/>
          <a:lstStyle/>
          <a:p>
            <a:pPr/>
            <a:r>
              <a:rPr/>
              <a:t>Maryland ranks 26 of 49 reporting states</a:t>
            </a:r>
          </a:p>
          <a:p>
            <a:pPr/>
            <a:r>
              <a:rPr/>
              <a:t>Performance: 3.9 per 1,000</a:t>
            </a:r>
          </a:p>
          <a:p>
            <a:pPr/>
            <a:r>
              <a:rPr/>
              <a:t>0.58 below national standard of 4.48</a:t>
            </a:r>
          </a:p>
          <a:p>
            <a:pPr/>
            <a:r>
              <a:rPr/>
              <a:t>Performance meets or exceeds national standard</a:t>
            </a:r>
          </a:p>
          <a:p>
            <a:pPr/>
            <a:r>
              <a:rPr/>
              <a:t>Based on 18 events among 4,616 children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2B4162"/>
      </a:dk2>
      <a:lt2>
        <a:srgbClr val="E7ECF2"/>
      </a:lt2>
      <a:accent1>
        <a:srgbClr val="4472C4"/>
      </a:accent1>
      <a:accent2>
        <a:srgbClr val="2B5797"/>
      </a:accent2>
      <a:accent3>
        <a:srgbClr val="5B9BD5"/>
      </a:accent3>
      <a:accent4>
        <a:srgbClr val="ED7D31"/>
      </a:accent4>
      <a:accent5>
        <a:srgbClr val="70AD47"/>
      </a:accent5>
      <a:accent6>
        <a:srgbClr val="264478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_ppt_cfsr_20260212.potx" id="{1C7DAFC1-A121-4F63-89FA-821DDE24630B}" vid="{C876BF6B-5B2D-4914-917A-4F41DF265706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417B78-7698-4D7F-B3F3-86F7BEF04A4C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Kurt Heisler</dc:creator>
  <cp:lastModifiedBy/>
  <cp:revision>3</cp:revision>
  <dcterms:created xsi:type="dcterms:W3CDTF">2026-02-12T22:29:53Z</dcterms:created>
  <dcterms:modified xsi:type="dcterms:W3CDTF">2026-03-04T17:04:22Z</dcterms:modified>
</cp:coreProperties>
</file>