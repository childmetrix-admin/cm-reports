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Default Extension="gif" ContentType="image/gif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thumbnail" Target="docProps/thumbnail.jpeg"/>
<Relationship Id="rId2" Type="http://schemas.openxmlformats.org/officeDocument/2006/relationships/officeDocument" Target="ppt/presentation.xml"/>
<Relationship Id="rId1" Type="http://schemas.microsoft.com/office/2011/relationships/webextensiontaskpanes" Target="ppt/webextensions/taskpanes.xml"/>
<Relationship Id="rId5" Type="http://schemas.openxmlformats.org/officeDocument/2006/relationships/extended-properties" Target="docProps/app.xml"/>
<Relationship Id="rId4" Type="http://schemas.openxmlformats.org/package/2006/relationships/metadata/core-properties" Target="docProps/core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01" autoAdjust="0"/>
    <p:restoredTop sz="94660"/>
  </p:normalViewPr>
  <p:slideViewPr>
    <p:cSldViewPr snapToGrid="0">
      <p:cViewPr varScale="1">
        <p:scale>
          <a:sx n="66" d="100"/>
          <a:sy n="66" d="100"/>
        </p:scale>
        <p:origin x="77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viewProps" Target="viewProps.xml"/>
<Relationship Id="rId2" Type="http://schemas.openxmlformats.org/officeDocument/2006/relationships/presProps" Target="presProps.xml"/>
<Relationship Id="rId1" Type="http://schemas.openxmlformats.org/officeDocument/2006/relationships/slideMaster" Target="slideMasters/slideMaster1.xml"/>
<Relationship Id="rId5" Type="http://schemas.openxmlformats.org/officeDocument/2006/relationships/tableStyles" Target="tableStyles.xml"/>
<Relationship Id="rId4" Type="http://schemas.openxmlformats.org/officeDocument/2006/relationships/theme" Target="theme/theme1.xml"/>
<Relationship Id="rId6" Type="http://schemas.openxmlformats.org/officeDocument/2006/relationships/slide" Target="slides/slide1.xml"/>
<Relationship Id="rId7" Type="http://schemas.openxmlformats.org/officeDocument/2006/relationships/slide" Target="slides/slide2.xml"/>
<Relationship Id="rId8" Type="http://schemas.openxmlformats.org/officeDocument/2006/relationships/slide" Target="slides/slide3.xml"/>
<Relationship Id="rId9" Type="http://schemas.openxmlformats.org/officeDocument/2006/relationships/slide" Target="slides/slide4.xml"/>
<Relationship Id="rId10" Type="http://schemas.openxmlformats.org/officeDocument/2006/relationships/slide" Target="slides/slide5.xml"/>
<Relationship Id="rId11" Type="http://schemas.openxmlformats.org/officeDocument/2006/relationships/slide" Target="slides/slide6.xml"/>
<Relationship Id="rId12" Type="http://schemas.openxmlformats.org/officeDocument/2006/relationships/slide" Target="slides/slide7.xml"/>
<Relationship Id="rId13" Type="http://schemas.openxmlformats.org/officeDocument/2006/relationships/slide" Target="slides/slide8.xml"/>
<Relationship Id="rId14" Type="http://schemas.openxmlformats.org/officeDocument/2006/relationships/slide" Target="slides/slide9.xml"/>
<Relationship Id="rId15" Type="http://schemas.openxmlformats.org/officeDocument/2006/relationships/slide" Target="slides/slide10.xml"/>
<Relationship Id="rId16" Type="http://schemas.openxmlformats.org/officeDocument/2006/relationships/slide" Target="slides/slide11.xml"/>
<Relationship Id="rId17" Type="http://schemas.openxmlformats.org/officeDocument/2006/relationships/slide" Target="slides/slide12.xml"/>
<Relationship Id="rId18" Type="http://schemas.openxmlformats.org/officeDocument/2006/relationships/slide" Target="slides/slide13.xml"/>
<Relationship Id="rId19" Type="http://schemas.openxmlformats.org/officeDocument/2006/relationships/slide" Target="slides/slide14.xml"/>
<Relationship Id="rId20" Type="http://schemas.openxmlformats.org/officeDocument/2006/relationships/slide" Target="slides/slide15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0A02D-7834-09AE-FA6F-9624A30BE8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B5DC0B-10A6-5E75-162A-631857EF8D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A6953E-89AF-4819-1938-FF52D0BA7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A1D2B-2537-4D61-9387-23A02DC35F4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9CF29B-D43C-5A5B-6E0B-ED9A6D2C6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97FFED-642F-DB92-DCD4-F456116AE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C2334-BDD3-4B5A-BFA7-22F489CFA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999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509F5-B437-05DD-6977-AF1DC9BC0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A1B4E3-152E-063F-ABF3-176A0BB05A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788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643E23-83C7-0D9A-A2B4-C3859CC8A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A1D2B-2537-4D61-9387-23A02DC35F4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52D64C-EBF5-4BDC-C498-98474B5C1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F25701-933D-B87E-EBFF-D8004ED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C2334-BDD3-4B5A-BFA7-22F489CFA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107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6185E-355E-77E2-B1D8-D63F3DCFD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5F19C6-2F8A-CB87-D7DA-4ED1951410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4AC52-F7F8-7018-12A9-AA1303F6D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A1D2B-2537-4D61-9387-23A02DC35F4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132B91-DC30-C9F4-F0C6-3FB87C57A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A460AA-6459-E62A-448E-763418CA1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C2334-BDD3-4B5A-BFA7-22F489CFA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4238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CC642-3D60-302E-A662-BBC9B28F1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E0E26D-930C-6D6A-C0CF-16CFD85C09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31D49A-C64D-4FD5-B994-48DD226079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274F4-E841-1D9D-26B0-3FF1E440D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A1D2B-2537-4D61-9387-23A02DC35F4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C45427-AD00-05CD-03F8-12602E26B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DFD10A-78FF-D8D2-CFA7-B1743DFA6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C2334-BDD3-4B5A-BFA7-22F489CFA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290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74B5F-92F8-178B-A927-E8728C9DD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1ED377-31A6-4F6A-0503-6FC97E3F48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6A1C2E-49D0-310E-C909-275F743738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90EE38-022C-6980-7AE5-1E529D27CC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A6D4EB-D736-8F4F-840C-5F5AC877A1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146CEC-C9B5-4A70-FCA1-78FA407F7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A1D2B-2537-4D61-9387-23A02DC35F4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DB9038-C6A6-0424-0057-16167FDEC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0521EB-5F60-35C8-F38C-8922D4E2E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C2334-BDD3-4B5A-BFA7-22F489CFA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810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3AF14-C5BA-A0BD-2BCC-5C0355A88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66F26E-2B3E-E1B2-E204-FB57C0C8B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A1D2B-2537-4D61-9387-23A02DC35F4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41FB6E-B085-44EA-74FE-BA1868486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241FE2-BD68-23E1-8E69-8B1B1910A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C2334-BDD3-4B5A-BFA7-22F489CFA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377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70A915-5F3E-0F37-C026-AFEA703F4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A1D2B-2537-4D61-9387-23A02DC35F4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B8D61F-3F02-41CB-9FE6-D76719EBE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CB4E02-ACCF-A03E-B4BE-D93F99A29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C2334-BDD3-4B5A-BFA7-22F489CFA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351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ide Panel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ide Panel"/>
          <p:cNvSpPr/>
          <p:nvPr userDrawn="1"/>
        </p:nvSpPr>
        <p:spPr>
          <a:xfrm>
            <a:off x="0" y="0"/>
            <a:ext cx="3857297" cy="6858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cxnSp>
        <p:nvCxnSpPr>
          <p:cNvPr id="15" name="Divider Line"/>
          <p:cNvCxnSpPr/>
          <p:nvPr userDrawn="1"/>
        </p:nvCxnSpPr>
        <p:spPr>
          <a:xfrm>
            <a:off x="0" y="2469931"/>
            <a:ext cx="3857296" cy="0"/>
          </a:xfrm>
          <a:prstGeom prst="line">
            <a:avLst/>
          </a:prstGeom>
          <a:ln w="6350">
            <a:solidFill>
              <a:schemeClr val="tx2">
                <a:lumMod val="25000"/>
                <a:lumOff val="75000"/>
              </a:schemeClr>
            </a:solidFill>
          </a:ln>
        </p:spPr>
      </p:cxnSp>
      <p:pic>
        <p:nvPicPr>
          <p:cNvPr id="16" name="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5798" y="6384036"/>
            <a:ext cx="1199069" cy="257820"/>
          </a:xfrm>
          <a:prstGeom prst="rect">
            <a:avLst/>
          </a:prstGeom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54105" y="284672"/>
            <a:ext cx="3225675" cy="857250"/>
          </a:xfrm>
        </p:spPr>
        <p:txBody>
          <a:bodyPr vert="horz" lIns="91440" tIns="45720" rIns="91440" bIns="45720" anchor="t">
            <a:normAutofit/>
          </a:bodyPr>
          <a:lstStyle>
            <a:lvl1pPr algn="l">
              <a:defRPr sz="2400" b="1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idx="2"/>
          </p:nvPr>
        </p:nvSpPr>
        <p:spPr>
          <a:xfrm>
            <a:off x="342058" y="2915728"/>
            <a:ext cx="3306731" cy="3200000"/>
          </a:xfrm>
        </p:spPr>
        <p:txBody>
          <a:bodyPr wrap="square">
            <a:spAutoFit/>
          </a:bodyPr>
          <a:lstStyle>
            <a:lvl1pPr marL="285750" indent="-285750">
              <a:buFont typeface="Arial"/>
              <a:buChar char="•"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2"/>
          <p:cNvSpPr>
            <a:spLocks noGrp="1"/>
          </p:cNvSpPr>
          <p:nvPr>
            <p:ph type="pic" idx="1"/>
          </p:nvPr>
        </p:nvSpPr>
        <p:spPr>
          <a:xfrm>
            <a:off x="4046475" y="215657"/>
            <a:ext cx="7924800" cy="6449543"/>
          </a:xfrm>
        </p:spPr>
      </p:sp>
      <p:sp>
        <p:nvSpPr>
          <p:cNvPr id="17" name="Subtitle"/>
          <p:cNvSpPr>
            <a:spLocks noGrp="1"/>
          </p:cNvSpPr>
          <p:nvPr>
            <p:ph type="body" sz="quarter" idx="11"/>
          </p:nvPr>
        </p:nvSpPr>
        <p:spPr>
          <a:xfrm>
            <a:off x="354105" y="1190625"/>
            <a:ext cx="3225675" cy="640080"/>
          </a:xfrm>
        </p:spPr>
        <p:txBody>
          <a:bodyPr vert="horz" lIns="91440" tIns="0" rIns="9144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Detail"/>
          <p:cNvSpPr>
            <a:spLocks noGrp="1"/>
          </p:cNvSpPr>
          <p:nvPr>
            <p:ph type="body" sz="quarter" idx="12"/>
          </p:nvPr>
        </p:nvSpPr>
        <p:spPr>
          <a:xfrm>
            <a:off x="354105" y="1874520"/>
            <a:ext cx="3225675" cy="594360"/>
          </a:xfrm>
        </p:spPr>
        <p:txBody>
          <a:bodyPr vert="horz" lIns="91440" tIns="0" rIns="91440" bIns="0" anchor="t">
            <a:normAutofit/>
          </a:bodyPr>
          <a:lstStyle>
            <a:lvl1pPr marL="0" indent="0" algn="l">
              <a:buNone/>
              <a:defRPr sz="1400" b="0" i="1">
                <a:solidFill>
                  <a:srgbClr val="D0DCE8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998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20BB2-026E-1363-2CC1-112543892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B711B-3280-AD97-E832-B29AE72CD5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2357AB-56AF-639E-0A77-E1BBC0C5F1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BD3D61-279B-369F-6558-EE28C85A2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A1D2B-2537-4D61-9387-23A02DC35F4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5A9E28-8342-D25F-89AC-0E3D11AAD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E3A4CB-56D2-E5E0-64A2-A73F93EAF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C2334-BDD3-4B5A-BFA7-22F489CFA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128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p Banner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 Rectangle"/>
          <p:cNvSpPr/>
          <p:nvPr userDrawn="1"/>
        </p:nvSpPr>
        <p:spPr>
          <a:xfrm>
            <a:off x="0" y="0"/>
            <a:ext cx="12192000" cy="161314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1" name="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38826" y="284672"/>
            <a:ext cx="1199069" cy="257820"/>
          </a:xfrm>
          <a:prstGeom prst="rect">
            <a:avLst/>
          </a:prstGeom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54105" y="284672"/>
            <a:ext cx="3225675" cy="480060"/>
          </a:xfrm>
        </p:spPr>
        <p:txBody>
          <a:bodyPr vert="horz" lIns="91440" tIns="45720" rIns="91440" bIns="45720" anchor="t">
            <a:normAutofit/>
          </a:bodyPr>
          <a:lstStyle>
            <a:lvl1pPr algn="l">
              <a:defRPr sz="2400" b="1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/>
          </p:cNvSpPr>
          <p:nvPr>
            <p:ph type="pic" idx="1"/>
          </p:nvPr>
        </p:nvSpPr>
        <p:spPr>
          <a:xfrm>
            <a:off x="170688" y="1759268"/>
            <a:ext cx="11783400" cy="491613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Subtitle"/>
          <p:cNvSpPr>
            <a:spLocks noGrp="1"/>
          </p:cNvSpPr>
          <p:nvPr>
            <p:ph type="body" sz="quarter" idx="11"/>
          </p:nvPr>
        </p:nvSpPr>
        <p:spPr>
          <a:xfrm>
            <a:off x="354105" y="810768"/>
            <a:ext cx="3225675" cy="384048"/>
          </a:xfrm>
        </p:spPr>
        <p:txBody>
          <a:bodyPr vert="horz" lIns="91440" tIns="0" rIns="91440" bIns="0" anchor="t">
            <a:normAutofit/>
          </a:bodyPr>
          <a:lstStyle>
            <a:lvl1pPr marL="0" indent="0" algn="l">
              <a:buNone/>
              <a:defRPr sz="1600" b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Detail"/>
          <p:cNvSpPr>
            <a:spLocks noGrp="1"/>
          </p:cNvSpPr>
          <p:nvPr>
            <p:ph type="body" sz="quarter" idx="12"/>
          </p:nvPr>
        </p:nvSpPr>
        <p:spPr>
          <a:xfrm>
            <a:off x="354105" y="1234440"/>
            <a:ext cx="3225675" cy="338328"/>
          </a:xfrm>
        </p:spPr>
        <p:txBody>
          <a:bodyPr vert="horz" lIns="91440" tIns="0" rIns="91440" bIns="0" anchor="t">
            <a:normAutofit/>
          </a:bodyPr>
          <a:lstStyle>
            <a:lvl1pPr marL="0" indent="0" algn="l">
              <a:buNone/>
              <a:defRPr sz="1400" b="0" i="1">
                <a:solidFill>
                  <a:srgbClr val="D0DCE8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998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471D3-B9EE-110E-6FB5-E8A0A1939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CDA8C6-802C-CABA-F7D5-3BE0135079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C6AD30-C5DD-38F5-48A0-5286DA6BC3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2D5737-0253-6157-C1B2-7230C7EA7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A1D2B-2537-4D61-9387-23A02DC35F4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907422-4D4B-23EF-D757-7E311B224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998F76-1EF5-7800-26FE-DF55ED52F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C2334-BDD3-4B5A-BFA7-22F489CFA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98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399D4A-DCAF-0984-E164-F86382E76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58955-6509-505A-955D-F3F95B2CB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F0DE31-D691-AF2E-9B8F-D5430E8FF8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BA1D2B-2537-4D61-9387-23A02DC35F4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07A74-AF5F-AC26-E714-9AB872BA46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3E4C43-7267-8A54-BF86-BF77094912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6C2334-BDD3-4B5A-BFA7-22F489CFAFEA}" type="slidenum">
              <a:rPr lang="en-US" smtClean="0"/>
              <a:t>‹#›</a:t>
            </a:fld>
            <a:endParaRPr lang="en-US"/>
          </a:p>
        </p:txBody>
      </p:sp>
      <p:grpSp>
        <p:nvGrpSpPr>
          <p:cNvPr id="100" name="Footer Group"/>
          <p:cNvGrpSpPr/>
          <p:nvPr/>
        </p:nvGrpSpPr>
        <p:grpSpPr>
          <a:xfrm>
            <a:off x="0" y="5713687"/>
            <a:ext cx="12192000" cy="1154824"/>
            <a:chOff x="0" y="5713687"/>
            <a:chExt cx="12192000" cy="1154824"/>
          </a:xfrm>
        </p:grpSpPr>
        <p:pic>
          <p:nvPicPr>
            <p:cNvPr id="101" name="Wave Footer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0" y="5713687"/>
              <a:ext cx="12192000" cy="1154824"/>
            </a:xfrm>
            <a:prstGeom prst="rect">
              <a:avLst/>
            </a:prstGeom>
          </p:spPr>
        </p:pic>
        <p:pic>
          <p:nvPicPr>
            <p:cNvPr id="102" name="Logo Footer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388191" y="6002185"/>
              <a:ext cx="1665893" cy="35819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67173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95" r:id="rId8"/>
    <p:sldLayoutId id="2147483688" r:id="rId9"/>
    <p:sldLayoutId id="2147483696" r:id="rId10"/>
    <p:sldLayoutId id="214748369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3.xml"/>
</Relationships>

</file>

<file path=ppt/slides/_rels/slide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0.xml"/>
</Relationships>

</file>

<file path=ppt/slides/_rels/slide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8.xml"/>
</Relationships>

</file>

<file path=ppt/slides/_rels/slide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8.xml"/>
</Relationships>

</file>

<file path=ppt/slides/_rels/slide7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3.xml"/>
</Relationships>

</file>

<file path=ppt/slides/_rels/slide8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8.xml"/>
</Relationships>

</file>

<file path=ppt/slides/_rels/slide9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8.xml"/>
</Relationships>

</file>

<file path=ppt/slides/_rels/slide10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8.xml"/>
</Relationships>

</file>

<file path=ppt/slides/_rels/slide1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8.xml"/>
</Relationships>

</file>

<file path=ppt/slides/_rels/slide1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8.xml"/>
</Relationships>

</file>

<file path=ppt/slides/_rels/slide1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8.xml"/>
</Relationships>

</file>

<file path=ppt/slides/_rels/slide1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8.xml"/>
</Relationships>

</file>

<file path=ppt/slides/_rels/slide1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8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r>
              <a:rPr/>
              <a:t>Maryland CFSR Profile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r>
              <a:rPr/>
              <a:t>Data Profile Period: 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/>
              <a:t>CFSR Round 4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788062"/>
          </a:xfrm>
        </p:spPr>
        <p:txBody>
          <a:bodyPr/>
          <a:lstStyle/>
          <a:p>
            <a:pPr/>
            <a:r>
              <a:rPr/>
              <a:t>Children's Bureau provides CFSR Round 4 Data Profiles every 6 months</a:t>
            </a:r>
          </a:p>
          <a:p>
            <a:pPr/>
            <a:r>
              <a:rPr/>
              <a:t>Shows your state's risk-standardized performance (RSP) and observed performance</a:t>
            </a:r>
          </a:p>
          <a:p>
            <a:pPr/>
            <a:r>
              <a:rPr/>
              <a:t>RSP is observed performance but with risk-adjustment</a:t>
            </a:r>
          </a:p>
          <a:p>
            <a:pPr/>
            <a:r>
              <a:rPr/>
              <a:t>RSP is compared to the national performance to see if performance is statistically better, worse, or no different than national performance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r>
              <a:rPr/>
              <a:t>CFSR Performance Summary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105" y="284672"/>
            <a:ext cx="3225675" cy="480060"/>
          </a:xfrm>
        </p:spPr>
        <p:txBody>
          <a:bodyPr/>
          <a:lstStyle/>
          <a:p>
            <a:r>
              <a:rPr/>
              <a:t>Overall Performance Summary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0688" y="1759268"/>
            <a:ext cx="11783400" cy="4916133"/>
          </a:xfrm>
        </p:spPr>
        <p:txBody>
          <a:bodyPr/>
          <a:lstStyle/>
          <a:p>
            <a:r>
              <a:rPr/>
              <a:t>[INSERT SCREENSHOT: Summary App]
URL: http://localhost:3840/?state=md&amp;profile=2025_08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105" y="284672"/>
            <a:ext cx="3225675" cy="857250"/>
          </a:xfrm>
        </p:spPr>
        <p:txBody>
          <a:bodyPr/>
          <a:lstStyle/>
          <a:p>
            <a:r>
              <a:rPr/>
              <a:t>Risk-Standardized Performance Overview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46475" y="215657"/>
            <a:ext cx="7924800" cy="6449543"/>
          </a:xfrm>
        </p:spPr>
        <p:txBody>
          <a:bodyPr/>
          <a:lstStyle/>
          <a:p>
            <a:r>
              <a:rPr/>
              <a:t>[INSERT SCREENSHOT: RSP KPI Cards]
URL: http://localhost:3840/rsp?state=md&amp;profile=2025_08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105" y="284672"/>
            <a:ext cx="3225675" cy="857250"/>
          </a:xfrm>
        </p:spPr>
        <p:txBody>
          <a:bodyPr/>
          <a:lstStyle/>
          <a:p>
            <a:r>
              <a:rPr/>
              <a:t>Observed Performance Overview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46475" y="215657"/>
            <a:ext cx="7924800" cy="6449543"/>
          </a:xfrm>
        </p:spPr>
        <p:txBody>
          <a:bodyPr/>
          <a:lstStyle/>
          <a:p>
            <a:r>
              <a:rPr/>
              <a:t>[INSERT SCREENSHOT: Observed KPI Cards]
URL: http://localhost:3840/observed?state=md&amp;profile=2025_08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r>
              <a:rPr/>
              <a:t>Individual Indicators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105" y="284672"/>
            <a:ext cx="3225675" cy="857250"/>
          </a:xfrm>
        </p:spPr>
        <p:txBody>
          <a:bodyPr/>
          <a:lstStyle/>
          <a:p>
            <a:r>
              <a:rPr/>
              <a:t>Maltreatment in foster care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46475" y="215657"/>
            <a:ext cx="7924800" cy="6449543"/>
          </a:xfrm>
        </p:spPr>
        <p:txBody>
          <a:bodyPr/>
          <a:lstStyle/>
          <a:p>
            <a:r>
              <a:rPr/>
              <a:t>[INSERT SCREENSHOT: Maltreatment in care (victimizations / 100,000 days in care) - By State chart]
URL: http://localhost:3840/measures?indicator=Maltreatment%20in%20care%20%28victimizations%20%2F%20100%2C000%20days%20in%20care%29&amp;state=md&amp;profile=2025_08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342058" y="2915728"/>
            <a:ext cx="3306731" cy="3200000"/>
          </a:xfrm>
        </p:spPr>
        <p:txBody>
          <a:bodyPr/>
          <a:lstStyle/>
          <a:p>
            <a:pPr/>
            <a:r>
              <a:rPr/>
              <a:t>Maryland ranks 46 of 52 reporting states</a:t>
            </a:r>
          </a:p>
          <a:p>
            <a:pPr/>
            <a:r>
              <a:rPr/>
              <a:t>Performance: 10.04 per 100,000</a:t>
            </a:r>
          </a:p>
          <a:p>
            <a:pPr/>
            <a:r>
              <a:rPr/>
              <a:t>0.97 above national standard of 9.07</a:t>
            </a:r>
          </a:p>
          <a:p>
            <a:pPr/>
            <a:r>
              <a:rPr/>
              <a:t>Performance below national standard</a:t>
            </a:r>
          </a:p>
          <a:p>
            <a:pPr/>
            <a:r>
              <a:rPr/>
              <a:t>Based on 2 events among 19,913 children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105" y="284672"/>
            <a:ext cx="3225675" cy="857250"/>
          </a:xfrm>
        </p:spPr>
        <p:txBody>
          <a:bodyPr/>
          <a:lstStyle/>
          <a:p>
            <a:r>
              <a:rPr/>
              <a:t>Maltreatment recurrence within 12 months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46475" y="215657"/>
            <a:ext cx="7924800" cy="6449543"/>
          </a:xfrm>
        </p:spPr>
        <p:txBody>
          <a:bodyPr/>
          <a:lstStyle/>
          <a:p>
            <a:r>
              <a:rPr/>
              <a:t>[INSERT SCREENSHOT: Maltreatment recurrence within 12 months - By State chart]
URL: http://localhost:3840/measures?indicator=Maltreatment%20recurrence%20within%2012%20months&amp;state=md&amp;profile=2025_08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342058" y="2915728"/>
            <a:ext cx="3306731" cy="3200000"/>
          </a:xfrm>
        </p:spPr>
        <p:txBody>
          <a:bodyPr/>
          <a:lstStyle/>
          <a:p>
            <a:pPr/>
            <a:r>
              <a:rPr/>
              <a:t>Maryland ranks 28 of 50 reporting states</a:t>
            </a:r>
          </a:p>
          <a:p>
            <a:pPr/>
            <a:r>
              <a:rPr/>
              <a:t>Performance: 19.8%</a:t>
            </a:r>
          </a:p>
          <a:p>
            <a:pPr/>
            <a:r>
              <a:rPr/>
              <a:t>10.1% above national standard of 9.7%</a:t>
            </a:r>
          </a:p>
          <a:p>
            <a:pPr/>
            <a:r>
              <a:rPr/>
              <a:t>Performance below national standard</a:t>
            </a:r>
          </a:p>
          <a:p>
            <a:pPr/>
            <a:r>
              <a:rPr/>
              <a:t>Based on 19 events among 96 children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105" y="284672"/>
            <a:ext cx="3225675" cy="857250"/>
          </a:xfrm>
        </p:spPr>
        <p:txBody>
          <a:bodyPr/>
          <a:lstStyle/>
          <a:p>
            <a:r>
              <a:rPr/>
              <a:t>Foster care entry rate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46475" y="215657"/>
            <a:ext cx="7924800" cy="6449543"/>
          </a:xfrm>
        </p:spPr>
        <p:txBody>
          <a:bodyPr/>
          <a:lstStyle/>
          <a:p>
            <a:r>
              <a:rPr/>
              <a:t>[INSERT SCREENSHOT: Foster care entry rate (entries / 1,000 children) - By State chart]
URL: http://localhost:3840/measures?indicator=Foster%20care%20entry%20rate%20%28entries%20%2F%201%2C000%20children%29&amp;state=md&amp;profile=2025_08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342058" y="2915728"/>
            <a:ext cx="3306731" cy="3200000"/>
          </a:xfrm>
        </p:spPr>
        <p:txBody>
          <a:bodyPr/>
          <a:lstStyle/>
          <a:p>
            <a:pPr/>
            <a:r>
              <a:rPr/>
              <a:t>Maryland ranks 2 of 52 reporting states</a:t>
            </a:r>
          </a:p>
          <a:p>
            <a:pPr/>
            <a:r>
              <a:rPr/>
              <a:t>Performance: 3.89 per 1,000</a:t>
            </a:r>
          </a:p>
          <a:p>
            <a:pPr/>
            <a:r>
              <a:rPr/>
              <a:t>Based on 47 events among 12,089 children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105" y="284672"/>
            <a:ext cx="3225675" cy="857250"/>
          </a:xfrm>
        </p:spPr>
        <p:txBody>
          <a:bodyPr/>
          <a:lstStyle/>
          <a:p>
            <a:r>
              <a:rPr/>
              <a:t>Perm in 12 months (entries)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46475" y="215657"/>
            <a:ext cx="7924800" cy="6449543"/>
          </a:xfrm>
        </p:spPr>
        <p:txBody>
          <a:bodyPr/>
          <a:lstStyle/>
          <a:p>
            <a:r>
              <a:rPr/>
              <a:t>[INSERT SCREENSHOT: Permanency in 12 months for children entering care - By State chart]
URL: http://localhost:3840/measures?indicator=Permanency%20in%2012%20months%20for%20children%20entering%20care&amp;state=md&amp;profile=2025_08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342058" y="2915728"/>
            <a:ext cx="3306731" cy="3200000"/>
          </a:xfrm>
        </p:spPr>
        <p:txBody>
          <a:bodyPr/>
          <a:lstStyle/>
          <a:p>
            <a:pPr/>
            <a:r>
              <a:rPr/>
              <a:t>Maryland ranks 43 of 50 reporting states</a:t>
            </a:r>
          </a:p>
          <a:p>
            <a:pPr/>
            <a:r>
              <a:rPr/>
              <a:t>Performance: 18.6%</a:t>
            </a:r>
          </a:p>
          <a:p>
            <a:pPr/>
            <a:r>
              <a:rPr/>
              <a:t>16.6% below national standard of 35.2%</a:t>
            </a:r>
          </a:p>
          <a:p>
            <a:pPr/>
            <a:r>
              <a:rPr/>
              <a:t>Performance below national standard</a:t>
            </a:r>
          </a:p>
          <a:p>
            <a:pPr/>
            <a:r>
              <a:rPr/>
              <a:t>Based on 8 events among 43 children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105" y="284672"/>
            <a:ext cx="3225675" cy="857250"/>
          </a:xfrm>
        </p:spPr>
        <p:txBody>
          <a:bodyPr/>
          <a:lstStyle/>
          <a:p>
            <a:r>
              <a:rPr/>
              <a:t>Perm in 12 months (12-23 months)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46475" y="215657"/>
            <a:ext cx="7924800" cy="6449543"/>
          </a:xfrm>
        </p:spPr>
        <p:txBody>
          <a:bodyPr/>
          <a:lstStyle/>
          <a:p>
            <a:r>
              <a:rPr/>
              <a:t>[INSERT SCREENSHOT: Permanency in 12 months for children in care 12-23 months - By State chart]
URL: http://localhost:3840/measures?indicator=Permanency%20in%2012%20months%20for%20children%20in%20care%2012-23%20months&amp;state=md&amp;profile=2025_08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342058" y="2915728"/>
            <a:ext cx="3306731" cy="3200000"/>
          </a:xfrm>
        </p:spPr>
        <p:txBody>
          <a:bodyPr/>
          <a:lstStyle/>
          <a:p>
            <a:pPr/>
            <a:r>
              <a:rPr/>
              <a:t>Maryland ranks 44 of 50 reporting states</a:t>
            </a:r>
          </a:p>
          <a:p>
            <a:pPr/>
            <a:r>
              <a:rPr/>
              <a:t>Performance: 36%</a:t>
            </a:r>
          </a:p>
          <a:p>
            <a:pPr/>
            <a:r>
              <a:rPr/>
              <a:t>7.8% below national standard of 43.8%</a:t>
            </a:r>
          </a:p>
          <a:p>
            <a:pPr/>
            <a:r>
              <a:rPr/>
              <a:t>Performance below national standard</a:t>
            </a:r>
          </a:p>
          <a:p>
            <a:pPr/>
            <a:r>
              <a:rPr/>
              <a:t>Based on 9 events among 25 children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105" y="284672"/>
            <a:ext cx="3225675" cy="857250"/>
          </a:xfrm>
        </p:spPr>
        <p:txBody>
          <a:bodyPr/>
          <a:lstStyle/>
          <a:p>
            <a:r>
              <a:rPr/>
              <a:t>Perm in 12 months (24 months or more)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46475" y="215657"/>
            <a:ext cx="7924800" cy="6449543"/>
          </a:xfrm>
        </p:spPr>
        <p:txBody>
          <a:bodyPr/>
          <a:lstStyle/>
          <a:p>
            <a:r>
              <a:rPr/>
              <a:t>[INSERT SCREENSHOT: Permanency in 12 months for children in care 24 months or more - By State chart]
URL: http://localhost:3840/measures?indicator=Permanency%20in%2012%20months%20for%20children%20in%20care%2024%20months%20or%20more&amp;state=md&amp;profile=2025_08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342058" y="2915728"/>
            <a:ext cx="3306731" cy="3200000"/>
          </a:xfrm>
        </p:spPr>
        <p:txBody>
          <a:bodyPr/>
          <a:lstStyle/>
          <a:p>
            <a:pPr/>
            <a:r>
              <a:rPr/>
              <a:t>Maryland ranks 49 of 50 reporting states</a:t>
            </a:r>
          </a:p>
          <a:p>
            <a:pPr/>
            <a:r>
              <a:rPr/>
              <a:t>Performance: 25%</a:t>
            </a:r>
          </a:p>
          <a:p>
            <a:pPr/>
            <a:r>
              <a:rPr/>
              <a:t>12.3% below national standard of 37.3%</a:t>
            </a:r>
          </a:p>
          <a:p>
            <a:pPr/>
            <a:r>
              <a:rPr/>
              <a:t>Performance below national standard</a:t>
            </a:r>
          </a:p>
          <a:p>
            <a:pPr/>
            <a:r>
              <a:rPr/>
              <a:t>Based on 2 events among 8 children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105" y="284672"/>
            <a:ext cx="3225675" cy="857250"/>
          </a:xfrm>
        </p:spPr>
        <p:txBody>
          <a:bodyPr/>
          <a:lstStyle/>
          <a:p>
            <a:r>
              <a:rPr/>
              <a:t>Reentry to foster care within 12 months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46475" y="215657"/>
            <a:ext cx="7924800" cy="6449543"/>
          </a:xfrm>
        </p:spPr>
        <p:txBody>
          <a:bodyPr/>
          <a:lstStyle/>
          <a:p>
            <a:r>
              <a:rPr/>
              <a:t>[INSERT SCREENSHOT: Reentry to foster care within 12 months - By State chart]
URL: http://localhost:3840/measures?indicator=Reentry%20to%20foster%20care%20within%2012%20months&amp;state=md&amp;profile=2025_08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342058" y="2915728"/>
            <a:ext cx="3306731" cy="3200000"/>
          </a:xfrm>
        </p:spPr>
        <p:txBody>
          <a:bodyPr/>
          <a:lstStyle/>
          <a:p>
            <a:pPr/>
            <a:r>
              <a:rPr/>
              <a:t>Maryland ranks 23 of 49 reporting states</a:t>
            </a:r>
          </a:p>
          <a:p>
            <a:pPr/>
            <a:r>
              <a:rPr/>
              <a:t>Performance: 15.4%</a:t>
            </a:r>
          </a:p>
          <a:p>
            <a:pPr/>
            <a:r>
              <a:rPr/>
              <a:t>9.8% above national standard of 5.6%</a:t>
            </a:r>
          </a:p>
          <a:p>
            <a:pPr/>
            <a:r>
              <a:rPr/>
              <a:t>Performance below national standard</a:t>
            </a:r>
          </a:p>
          <a:p>
            <a:pPr/>
            <a:r>
              <a:rPr/>
              <a:t>Based on 4 events among 26 children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105" y="284672"/>
            <a:ext cx="3225675" cy="857250"/>
          </a:xfrm>
        </p:spPr>
        <p:txBody>
          <a:bodyPr/>
          <a:lstStyle/>
          <a:p>
            <a:r>
              <a:rPr/>
              <a:t>Placement stability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46475" y="215657"/>
            <a:ext cx="7924800" cy="6449543"/>
          </a:xfrm>
        </p:spPr>
        <p:txBody>
          <a:bodyPr/>
          <a:lstStyle/>
          <a:p>
            <a:r>
              <a:rPr/>
              <a:t>[INSERT SCREENSHOT: Placement stability (moves / 1,000 days in care) - By State chart]
URL: http://localhost:3840/measures?indicator=Placement%20stability%20%28moves%20%2F%201%2C000%20days%20in%20care%29&amp;state=md&amp;profile=2025_08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342058" y="2915728"/>
            <a:ext cx="3306731" cy="3200000"/>
          </a:xfrm>
        </p:spPr>
        <p:txBody>
          <a:bodyPr/>
          <a:lstStyle/>
          <a:p>
            <a:pPr/>
            <a:r>
              <a:rPr/>
              <a:t>Maryland ranks 24 of 49 reporting states</a:t>
            </a:r>
          </a:p>
          <a:p>
            <a:pPr/>
            <a:r>
              <a:rPr/>
              <a:t>Performance: 6.68 per 1,000</a:t>
            </a:r>
          </a:p>
          <a:p>
            <a:pPr/>
            <a:r>
              <a:rPr/>
              <a:t>2.2 above national standard of 4.48</a:t>
            </a:r>
          </a:p>
          <a:p>
            <a:pPr/>
            <a:r>
              <a:rPr/>
              <a:t>Performance below national standard</a:t>
            </a:r>
          </a:p>
          <a:p>
            <a:pPr/>
            <a:r>
              <a:rPr/>
              <a:t>Based on 46 events among 6,887 children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F2937"/>
      </a:dk1>
      <a:lt1>
        <a:srgbClr val="FFFFFF"/>
      </a:lt1>
      <a:dk2>
        <a:srgbClr val="2B4162"/>
      </a:dk2>
      <a:lt2>
        <a:srgbClr val="E7ECF2"/>
      </a:lt2>
      <a:accent1>
        <a:srgbClr val="4472C4"/>
      </a:accent1>
      <a:accent2>
        <a:srgbClr val="2B5797"/>
      </a:accent2>
      <a:accent3>
        <a:srgbClr val="5B9BD5"/>
      </a:accent3>
      <a:accent4>
        <a:srgbClr val="ED7D31"/>
      </a:accent4>
      <a:accent5>
        <a:srgbClr val="70AD47"/>
      </a:accent5>
      <a:accent6>
        <a:srgbClr val="264478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emplate_ppt_cfsr_20260212.potx" id="{1C7DAFC1-A121-4F63-89FA-821DDE24630B}" vid="{C876BF6B-5B2D-4914-917A-4F41DF265706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5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6417B78-7698-4D7F-B3F3-86F7BEF04A4C}">
  <we:reference id="wa200010001" version="1.0.0.0" store="en-US" storeType="OMEX"/>
  <we:alternateReferences>
    <we:reference id="wa200010001" version="1.0.0.0" store="en-US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Aptos</vt:lpstr>
      <vt:lpstr>Aptos Display</vt:lpstr>
      <vt:lpstr>Arial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>Kurt Heisler</dc:creator>
  <cp:lastModifiedBy/>
  <cp:revision>3</cp:revision>
  <dcterms:created xsi:type="dcterms:W3CDTF">2026-02-12T22:29:53Z</dcterms:created>
  <dcterms:modified xsi:type="dcterms:W3CDTF">2026-02-19T13:05:41Z</dcterms:modified>
</cp:coreProperties>
</file>