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3" Type="http://schemas.openxmlformats.org/officeDocument/2006/relationships/presProps" Target="presProps.xml"/>
<Relationship Id="rId4" Type="http://schemas.openxmlformats.org/officeDocument/2006/relationships/viewProps" Target="viewProps.xml"/>
<Relationship Id="rId5" Type="http://schemas.openxmlformats.org/officeDocument/2006/relationships/theme" Target="theme/theme1.xml"/>
<Relationship Id="rId6" Type="http://schemas.openxmlformats.org/officeDocument/2006/relationships/tableStyles" Target="tableStyles.xml"/>
<Relationship Id="rId7" Type="http://schemas.openxmlformats.org/officeDocument/2006/relationships/slide" Target="slides/slide1.xml"/>
<Relationship Id="rId8" Type="http://schemas.openxmlformats.org/officeDocument/2006/relationships/slide" Target="slides/slide2.xml"/>
<Relationship Id="rId9" Type="http://schemas.openxmlformats.org/officeDocument/2006/relationships/slide" Target="slides/slide3.xml"/>
<Relationship Id="rId10" Type="http://schemas.openxmlformats.org/officeDocument/2006/relationships/slide" Target="slides/slide4.xml"/>
<Relationship Id="rId11" Type="http://schemas.openxmlformats.org/officeDocument/2006/relationships/slide" Target="slides/slide5.xml"/>
<Relationship Id="rId12" Type="http://schemas.openxmlformats.org/officeDocument/2006/relationships/slide" Target="slides/slide6.xml"/>
<Relationship Id="rId13" Type="http://schemas.openxmlformats.org/officeDocument/2006/relationships/slide" Target="slides/slide7.xml"/>
<Relationship Id="rId14" Type="http://schemas.openxmlformats.org/officeDocument/2006/relationships/slide" Target="slides/slide8.xml"/>
<Relationship Id="rId15" Type="http://schemas.openxmlformats.org/officeDocument/2006/relationships/slide" Target="slides/slide9.xml"/>
<Relationship Id="rId16" Type="http://schemas.openxmlformats.org/officeDocument/2006/relationships/slide" Target="slides/slide10.xml"/>
<Relationship Id="rId17" Type="http://schemas.openxmlformats.org/officeDocument/2006/relationships/slide" Target="slides/slide11.xml"/>
<Relationship Id="rId18" Type="http://schemas.openxmlformats.org/officeDocument/2006/relationships/slide" Target="slides/slide12.xml"/>
<Relationship Id="rId19" Type="http://schemas.openxmlformats.org/officeDocument/2006/relationships/slide" Target="slides/slide13.xml"/>
<Relationship Id="rId20" Type="http://schemas.openxmlformats.org/officeDocument/2006/relationships/slide" Target="slides/slide14.xml"/>
<Relationship Id="rId21" Type="http://schemas.openxmlformats.org/officeDocument/2006/relationships/slide" Target="slides/slide15.xml"/>
<Relationship Id="rId22" Type="http://schemas.openxmlformats.org/officeDocument/2006/relationships/slide" Target="slides/slide16.xml"/>
</Relationships>
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1.xml"/>
</Relationships>

</file>

<file path=ppt/slides/_rels/slide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_rels/slide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e7e6107ce77fc6341ebf643e32f545597965ba6b.png"/>
</Relationships>

</file>

<file path=ppt/slides/_rels/slide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0d2886e7f124a0ac2b8de03cd60c5c90de811df.png"/>
</Relationships>

</file>

<file path=ppt/slides/_rels/slide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Relationship Id="rId2" Type="http://schemas.openxmlformats.org/officeDocument/2006/relationships/image" Target="../media/30d2886e7f124a0ac2b8de03cd60c5c90de811df.png"/>
</Relationships>

</file>

<file path=ppt/slides/_rels/slide7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3.xml"/>
</Relationships>

</file>

<file path=ppt/slides/_rels/slide8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30d2886e7f124a0ac2b8de03cd60c5c90de811df.png"/>
</Relationships>

</file>

<file path=ppt/slides/_rels/slide9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afe8d78d6ed3cab2fb31037e8b69939c961be313.png"/>
</Relationships>

</file>

<file path=ppt/slides/_rels/slide10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30d2886e7f124a0ac2b8de03cd60c5c90de811df.png"/>
</Relationships>

</file>

<file path=ppt/slides/_rels/slide1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afe8d78d6ed3cab2fb31037e8b69939c961be313.png"/>
</Relationships>

</file>

<file path=ppt/slides/_rels/slide12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afe8d78d6ed3cab2fb31037e8b69939c961be313.png"/>
</Relationships>

</file>

<file path=ppt/slides/_rels/slide13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30d2886e7f124a0ac2b8de03cd60c5c90de811df.png"/>
</Relationships>

</file>

<file path=ppt/slides/_rels/slide14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afe8d78d6ed3cab2fb31037e8b69939c961be313.png"/>
</Relationships>

</file>

<file path=ppt/slides/_rels/slide15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4.xml"/>
<Relationship Id="rId2" Type="http://schemas.openxmlformats.org/officeDocument/2006/relationships/image" Target="../media/30d2886e7f124a0ac2b8de03cd60c5c90de811df.png"/>
</Relationships>

</file>

<file path=ppt/slides/_rels/slide16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2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3200" i="0" b="1" u="none" strike="noStrike">
                <a:solidFill>
                  <a:srgbClr val="0F4C75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Kentucky CFSR Profile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/>
          <a:p>
            <a:pPr algn="l" marL="0" marR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cap="none" sz="1400" i="0" b="0" u="none" strike="noStrike">
                <a:solidFill>
                  <a:srgbClr val="0E9BA4">
                    <a:alpha val="100000"/>
                  </a:srgbClr>
                </a:solidFill>
                <a:latin typeface="Arial"/>
                <a:cs typeface="Arial"/>
                <a:ea typeface="Arial"/>
                <a:sym typeface="Arial"/>
              </a:rPr>
              <a:t>Data Profile Period: February 2025
Data Range: Oct '19 - Mar '22
Generated: April 24,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CFSR Round 4 Profile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/>
            <a:r>
              <a:rPr/>
              <a:t>Children's Bureau provides CFSR Round 4 Data Profiles every 6 months</a:t>
            </a:r>
          </a:p>
          <a:p>
            <a:pPr/>
            <a:r>
              <a:rPr/>
              <a:t>Shows your state's risk-standardized performance (RSP) and observed performance</a:t>
            </a:r>
          </a:p>
          <a:p>
            <a:pPr/>
            <a:r>
              <a:rPr/>
              <a:t>RSP is observed performance but with risk-adjustment</a:t>
            </a:r>
          </a:p>
          <a:p>
            <a:pPr/>
            <a:r>
              <a:rPr/>
              <a:t>RSP is compared to the national performance to see if performance is statistically better, worse, or no different than national performance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CFSR Performance Summary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Overall Performance Summary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Risk-Standardized Performance Overview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Observed Performance Overview</a:t>
            </a:r>
          </a:p>
        </p:txBody>
      </p:sp>
      <p:pic>
        <p:nvPicPr>
          <p:cNvPr id="3" name="Content Placeholder 2" descr=""/>
          <p:cNvPicPr>
            <a:picLocks noGrp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457200" y="1600200"/>
            <a:ext cx="8229600" cy="4525963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/>
          <a:p>
            <a:r>
              <a:rPr/>
              <a:t>Individual Indicators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Maltreatment in foster care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46 of 51 reporting states.</a:t>
            </a:r>
          </a:p>
          <a:p>
            <a:pPr/>
            <a:r>
              <a:rPr/>
              <a:t>Performance: 0 per 100,000.</a:t>
            </a:r>
          </a:p>
          <a:p>
            <a:pPr/>
            <a:r>
              <a:rPr/>
              <a:t>9.07 below national standard of 9.07.</a:t>
            </a:r>
          </a:p>
          <a:p>
            <a:pPr/>
            <a:r>
              <a:rPr/>
              <a:t>Performance meets or exceeds national standard.</a:t>
            </a:r>
          </a:p>
          <a:p>
            <a:pPr/>
            <a:r>
              <a:rPr/>
              <a:t>Based on 0 events among 9,714 children.</a:t>
            </a:r>
          </a:p>
          <a:p>
            <a:pPr/>
            <a:r>
              <a:rPr/>
              <a:t>Source: Children's Bureau. (2025, February). Kentucky - supplemental context data - February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Maltreatment in care counts substantiated or indicated victimizations during foster care episodes.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Maltreatment recurrence within 12 months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41 of 52 reporting states.</a:t>
            </a:r>
          </a:p>
          <a:p>
            <a:pPr/>
            <a:r>
              <a:rPr/>
              <a:t>Performance: 13%.</a:t>
            </a:r>
          </a:p>
          <a:p>
            <a:pPr/>
            <a:r>
              <a:rPr/>
              <a:t>3.3% above national standard of 9.7%.</a:t>
            </a:r>
          </a:p>
          <a:p>
            <a:pPr/>
            <a:r>
              <a:rPr/>
              <a:t>Performance below national standard.</a:t>
            </a:r>
          </a:p>
          <a:p>
            <a:pPr/>
            <a:r>
              <a:rPr/>
              <a:t>Based on 12 events among 92 children.</a:t>
            </a:r>
          </a:p>
          <a:p>
            <a:pPr/>
            <a:r>
              <a:rPr/>
              <a:t>Source: Children's Bureau. (2025, February). Kentucky - supplemental context data - February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Recurrence measures children with a new substantiated or indicated report within 12 months of an initial report.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Foster care entry rate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45 of 52 reporting states.</a:t>
            </a:r>
          </a:p>
          <a:p>
            <a:pPr/>
            <a:r>
              <a:rPr/>
              <a:t>Performance: 1.59 per 1,000.</a:t>
            </a:r>
          </a:p>
          <a:p>
            <a:pPr/>
            <a:r>
              <a:rPr/>
              <a:t>Based on 6 events among 3,781 children.</a:t>
            </a:r>
          </a:p>
          <a:p>
            <a:pPr/>
            <a:r>
              <a:rPr/>
              <a:t>Source: Children's Bureau. (2025, February). Kentucky - supplemental context data - February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Entry rate reflects how often children in the state enter foster care relative to the child population.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Perm in 12 months (entries)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8 of 52 reporting states.</a:t>
            </a:r>
          </a:p>
          <a:p>
            <a:pPr/>
            <a:r>
              <a:rPr/>
              <a:t>Performance: 71.4%.</a:t>
            </a:r>
          </a:p>
          <a:p>
            <a:pPr/>
            <a:r>
              <a:rPr/>
              <a:t>36.2% above national standard of 35.2%.</a:t>
            </a:r>
          </a:p>
          <a:p>
            <a:pPr/>
            <a:r>
              <a:rPr/>
              <a:t>Performance meets or exceeds national standard.</a:t>
            </a:r>
          </a:p>
          <a:p>
            <a:pPr/>
            <a:r>
              <a:rPr/>
              <a:t>Based on 5 events among 7 children.</a:t>
            </a:r>
          </a:p>
          <a:p>
            <a:pPr/>
            <a:r>
              <a:rPr/>
              <a:t>Source: Children's Bureau. (2025, February). Kentucky - supplemental context data - February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Permanency within 12 months of entry reflects timely exits to reunification, adoption, or guardianship.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Perm in 12 months (12-23 months)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40 of 52 reporting states.</a:t>
            </a:r>
          </a:p>
          <a:p>
            <a:pPr/>
            <a:r>
              <a:rPr/>
              <a:t>Performance: 0%.</a:t>
            </a:r>
          </a:p>
          <a:p>
            <a:pPr/>
            <a:r>
              <a:rPr/>
              <a:t>43.8% below national standard of 43.8%.</a:t>
            </a:r>
          </a:p>
          <a:p>
            <a:pPr/>
            <a:r>
              <a:rPr/>
              <a:t>Performance below national standard.</a:t>
            </a:r>
          </a:p>
          <a:p>
            <a:pPr/>
            <a:r>
              <a:rPr/>
              <a:t>Based on 0 events among 2 children.</a:t>
            </a:r>
          </a:p>
          <a:p>
            <a:pPr/>
            <a:r>
              <a:rPr/>
              <a:t>Source: Children's Bureau. (2025, February). Kentucky - supplemental context data - February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This cohort had been in care 12–23 months continuously as of the first day of the 12-month period.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Perm in 12 months (24 months or more)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26 of 52 reporting states.</a:t>
            </a:r>
          </a:p>
          <a:p>
            <a:pPr/>
            <a:r>
              <a:rPr/>
              <a:t>Performance: 75%.</a:t>
            </a:r>
          </a:p>
          <a:p>
            <a:pPr/>
            <a:r>
              <a:rPr/>
              <a:t>37.7% above national standard of 37.3%.</a:t>
            </a:r>
          </a:p>
          <a:p>
            <a:pPr/>
            <a:r>
              <a:rPr/>
              <a:t>Performance meets or exceeds national standard.</a:t>
            </a:r>
          </a:p>
          <a:p>
            <a:pPr/>
            <a:r>
              <a:rPr/>
              <a:t>Based on 3 events among 4 children.</a:t>
            </a:r>
          </a:p>
          <a:p>
            <a:pPr/>
            <a:r>
              <a:rPr/>
              <a:t>Source: Children's Bureau. (2025, February). Kentucky - supplemental context data - February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This cohort had been in care 24 months or more continuously as of the first day of the 12-month period.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Reentry to foster care within 12 months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43 of 52 reporting states.</a:t>
            </a:r>
          </a:p>
          <a:p>
            <a:pPr/>
            <a:r>
              <a:rPr/>
              <a:t>Performance: 37.5%.</a:t>
            </a:r>
          </a:p>
          <a:p>
            <a:pPr/>
            <a:r>
              <a:rPr/>
              <a:t>31.9% above national standard of 5.6%.</a:t>
            </a:r>
          </a:p>
          <a:p>
            <a:pPr/>
            <a:r>
              <a:rPr/>
              <a:t>Performance below national standard.</a:t>
            </a:r>
          </a:p>
          <a:p>
            <a:pPr/>
            <a:r>
              <a:rPr/>
              <a:t>Based on 3 events among 8 children.</a:t>
            </a:r>
          </a:p>
          <a:p>
            <a:pPr/>
            <a:r>
              <a:rPr/>
              <a:t>Source: Children's Bureau. (2025, February). Kentucky - supplemental context data - February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Reentry counts children who return to foster care within 12 months after a discharge to permanency.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Placement stability</a:t>
            </a:r>
          </a:p>
        </p:txBody>
      </p:sp>
      <p:pic>
        <p:nvPicPr>
          <p:cNvPr id="3" name="Content Placeholder 3" descr=""/>
          <p:cNvPicPr>
            <a:picLocks noGrp="1"/>
          </p:cNvPicPr>
          <p:nvPr>
            <p:ph sz="half" idx="2"/>
          </p:nvPr>
        </p:nvPicPr>
        <p:blipFill>
          <a:blip r:embed="rId2"/>
          <a:stretch>
            <a:fillRect/>
          </a:stretch>
        </p:blipFill>
        <p:spPr>
          <a:xfrm>
            <a:off x="4648200" y="1600200"/>
            <a:ext cx="4038600" cy="4525963"/>
          </a:xfrm>
          <a:prstGeom prst="rect">
            <a:avLst/>
          </a:prstGeom>
        </p:spPr>
      </p:pic>
      <p:sp>
        <p:nvSpPr>
          <p:cNvPr id="4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/>
          <a:p>
            <a:pPr/>
            <a:r>
              <a:rPr/>
              <a:t>Kentucky ranks 28 of 51 reporting states.</a:t>
            </a:r>
          </a:p>
          <a:p>
            <a:pPr/>
            <a:r>
              <a:rPr/>
              <a:t>Performance: 10 per 1,000.</a:t>
            </a:r>
          </a:p>
          <a:p>
            <a:pPr/>
            <a:r>
              <a:rPr/>
              <a:t>5.52 above national standard of 4.48.</a:t>
            </a:r>
          </a:p>
          <a:p>
            <a:pPr/>
            <a:r>
              <a:rPr/>
              <a:t>Performance below national standard.</a:t>
            </a:r>
          </a:p>
          <a:p>
            <a:pPr/>
            <a:r>
              <a:rPr/>
              <a:t>Based on 6 events among 600 children.</a:t>
            </a:r>
          </a:p>
          <a:p>
            <a:pPr/>
            <a:r>
              <a:rPr/>
              <a:t>Source: Children's Bureau. (2025, February). Kentucky - supplemental context data - February 2025 [Data file]. U.S. Department of Health &amp; Human Services, Administration for Children and Families, Administration on Children, Youth and Families.</a:t>
            </a:r>
          </a:p>
          <a:p>
            <a:pPr/>
            <a:r>
              <a:rPr/>
              <a:t>Placement stability summarizes moves per 1,000 days in care for children entering during the period.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/>
          <a:p>
            <a:r>
              <a:rPr/>
              <a:t>Summary — Kentucky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525963"/>
          </a:xfrm>
        </p:spPr>
        <p:txBody>
          <a:bodyPr/>
          <a:lstStyle/>
          <a:p>
            <a:pPr/>
            <a:r>
              <a:rPr/>
              <a:t>This deck summarizes observed CFSR profile indicators for February 2025.</a:t>
            </a:r>
          </a:p>
          <a:p>
            <a:pPr/>
            <a:r>
              <a:rPr/>
              <a:t>Review each indicator slide with agency leadership before external distribution.</a:t>
            </a:r>
          </a:p>
          <a:p>
            <a:pPr/>
            <a:r>
              <a:rPr/>
              <a:t>Contact: kurt@childmetrix.com</a:t>
            </a:r>
          </a:p>
          <a:p>
            <a:pPr/>
            <a:r>
              <a:rPr/>
              <a:t>Acknowledgments: Children's Bureau CFSR Round 4 Data Profile; ChildMetrix.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>generated using python-pptx</dc:description>
  <cp:lastModifiedBy/>
  <cp:revision>1</cp:revision>
  <dcterms:created xsi:type="dcterms:W3CDTF">2013-01-27T09:14:16Z</dcterms:created>
  <dcterms:modified xsi:type="dcterms:W3CDTF">2026-04-24T20:26:04Z</dcterms:modified>
  <cp:category/>
</cp:coreProperties>
</file>